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97" r:id="rId3"/>
    <p:sldId id="302" r:id="rId4"/>
    <p:sldId id="309" r:id="rId5"/>
    <p:sldId id="304" r:id="rId6"/>
    <p:sldId id="305" r:id="rId7"/>
    <p:sldId id="306" r:id="rId8"/>
    <p:sldId id="307" r:id="rId9"/>
    <p:sldId id="308" r:id="rId10"/>
    <p:sldId id="311" r:id="rId11"/>
    <p:sldId id="31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64F"/>
    <a:srgbClr val="4D0397"/>
    <a:srgbClr val="5603A9"/>
    <a:srgbClr val="6F04DA"/>
    <a:srgbClr val="00A4DE"/>
    <a:srgbClr val="009218"/>
    <a:srgbClr val="701800"/>
    <a:srgbClr val="681600"/>
    <a:srgbClr val="EA8B00"/>
    <a:srgbClr val="FB8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62" autoAdjust="0"/>
    <p:restoredTop sz="94660"/>
  </p:normalViewPr>
  <p:slideViewPr>
    <p:cSldViewPr snapToGrid="0">
      <p:cViewPr varScale="1">
        <p:scale>
          <a:sx n="53" d="100"/>
          <a:sy n="53" d="100"/>
        </p:scale>
        <p:origin x="84" y="1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C3245-8B82-4D18-958B-17D327E6C3D5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D02182-0EF6-4601-86E6-C23A82A8BF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32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0EF82-DE40-40C0-87A0-D939B4EB7237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1B0BA-5C1B-43E1-BA76-0C7077F97918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68BE-A050-42A2-A67A-0DB026EA350B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B6109-2826-4B94-AA22-A2DC8633DE19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56AD7-E294-4233-B5C7-4C9DB6DD86C9}" type="datetime1">
              <a:rPr lang="ru-RU" smtClean="0"/>
              <a:t>16.01.2026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B67F9-D522-482F-84C3-989E22F79495}" type="datetime1">
              <a:rPr lang="ru-RU" smtClean="0"/>
              <a:t>16.01.2026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27E8E-9FD2-47C8-8B5C-8CB3DDF78150}" type="datetime1">
              <a:rPr lang="ru-RU" smtClean="0"/>
              <a:t>16.01.2026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E491-01BC-4F46-9301-7F1E8E799BA9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FCC7E-87E2-4713-902F-269ACA3987DA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7544-2D8B-4CAD-9C11-EEBF499CCE6A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B31B-091E-4A6B-BE72-DA80DB6969CA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A0B93-CD0A-4594-9EB4-D1CDDCF40414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1" y="0"/>
            <a:ext cx="12147899" cy="6858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12302" r="3901" b="12632"/>
          <a:stretch/>
        </p:blipFill>
        <p:spPr>
          <a:xfrm>
            <a:off x="777904" y="610624"/>
            <a:ext cx="2229493" cy="1301015"/>
          </a:xfrm>
          <a:prstGeom prst="rect">
            <a:avLst/>
          </a:prstGeom>
        </p:spPr>
      </p:pic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394335"/>
              </p:ext>
            </p:extLst>
          </p:nvPr>
        </p:nvGraphicFramePr>
        <p:xfrm>
          <a:off x="8309657" y="656695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CorelDRAW" r:id="rId5" imgW="3084412" imgH="1354813" progId="CorelDraw.Graphic.22">
                  <p:embed/>
                </p:oleObj>
              </mc:Choice>
              <mc:Fallback>
                <p:oleObj name="CorelDRAW" r:id="rId5" imgW="3084412" imgH="1354813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09657" y="656695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Заголовок 1"/>
          <p:cNvSpPr txBox="1">
            <a:spLocks/>
          </p:cNvSpPr>
          <p:nvPr/>
        </p:nvSpPr>
        <p:spPr>
          <a:xfrm>
            <a:off x="1393463" y="1991449"/>
            <a:ext cx="7488832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54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Итоговый проект по </a:t>
            </a:r>
            <a:r>
              <a:rPr lang="en-US" altLang="ru-RU" sz="5400" b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endParaRPr lang="ru-RU" altLang="ru-RU" sz="5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393463" y="4890061"/>
            <a:ext cx="4454681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Студент: Калита Анастасия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Группа: РИМ-240901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CDE032-1632-8A3A-0E75-C40DCC7F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="" xmlns:a16="http://schemas.microsoft.com/office/drawing/2014/main" id="{FB79E22A-74CD-D697-8EBB-B8EE3F14F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="" xmlns:a16="http://schemas.microsoft.com/office/drawing/2014/main" id="{5E242821-4E0A-B657-7FC2-D899E03592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83ED8C4-6983-C6E6-1ABF-7EC56994795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924BB540-32BF-0716-29C9-268EBB17F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8F1496-CF7C-A3D6-67DD-C5CD874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</a:t>
            </a:fld>
            <a:endParaRPr lang="ru-RU"/>
          </a:p>
        </p:txBody>
      </p:sp>
      <p:sp>
        <p:nvSpPr>
          <p:cNvPr id="2" name="Google Shape;120;p16">
            <a:extLst>
              <a:ext uri="{FF2B5EF4-FFF2-40B4-BE49-F238E27FC236}">
                <a16:creationId xmlns="" xmlns:a16="http://schemas.microsoft.com/office/drawing/2014/main" id="{0EE88906-9D19-AAD5-12D5-D8D650B91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5" y="1099297"/>
            <a:ext cx="10697137" cy="6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0073B6"/>
              </a:buClr>
              <a:buSzPts val="4400"/>
            </a:pPr>
            <a:r>
              <a:rPr lang="ru-RU" b="1" dirty="0" err="1" smtClean="0">
                <a:solidFill>
                  <a:srgbClr val="0073B6"/>
                </a:solidFill>
              </a:rPr>
              <a:t>Датасет</a:t>
            </a:r>
            <a:endParaRPr dirty="0"/>
          </a:p>
        </p:txBody>
      </p:sp>
      <p:sp>
        <p:nvSpPr>
          <p:cNvPr id="14" name="Google Shape;121;p16">
            <a:extLst>
              <a:ext uri="{FF2B5EF4-FFF2-40B4-BE49-F238E27FC236}">
                <a16:creationId xmlns="" xmlns:a16="http://schemas.microsoft.com/office/drawing/2014/main" id="{74A6BD99-B6C3-8E38-43CA-BB783E34A042}"/>
              </a:ext>
            </a:extLst>
          </p:cNvPr>
          <p:cNvSpPr txBox="1">
            <a:spLocks/>
          </p:cNvSpPr>
          <p:nvPr/>
        </p:nvSpPr>
        <p:spPr>
          <a:xfrm>
            <a:off x="875445" y="1966724"/>
            <a:ext cx="10152219" cy="37858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ru-RU" sz="2000" dirty="0" smtClean="0"/>
              <a:t>В </a:t>
            </a:r>
            <a:r>
              <a:rPr lang="ru-RU" sz="2000" dirty="0"/>
              <a:t>проекте используется классический </a:t>
            </a:r>
            <a:r>
              <a:rPr lang="ru-RU" sz="2000" dirty="0" err="1"/>
              <a:t>датасет</a:t>
            </a:r>
            <a:r>
              <a:rPr lang="ru-RU" sz="2000" dirty="0"/>
              <a:t> </a:t>
            </a:r>
            <a:r>
              <a:rPr lang="ru-RU" sz="2000" dirty="0" err="1" smtClean="0"/>
              <a:t>Iris</a:t>
            </a:r>
            <a:endParaRPr lang="ru-RU" sz="2000" dirty="0" smtClean="0"/>
          </a:p>
          <a:p>
            <a:pPr marL="0" lvl="0" indent="0">
              <a:buNone/>
            </a:pPr>
            <a:r>
              <a:rPr lang="ru-RU" sz="2000" dirty="0"/>
              <a:t>Задача: </a:t>
            </a:r>
            <a:r>
              <a:rPr lang="ru-RU" sz="2000" dirty="0" smtClean="0"/>
              <a:t>классификация</a:t>
            </a:r>
          </a:p>
          <a:p>
            <a:pPr marL="0" lvl="0" indent="0">
              <a:buNone/>
            </a:pPr>
            <a:r>
              <a:rPr lang="en-US" sz="2000" dirty="0" smtClean="0"/>
              <a:t>Target</a:t>
            </a:r>
            <a:r>
              <a:rPr lang="en-US" sz="2000" dirty="0"/>
              <a:t>: </a:t>
            </a:r>
            <a:r>
              <a:rPr lang="en-US" sz="2000" dirty="0" smtClean="0"/>
              <a:t>species</a:t>
            </a:r>
            <a:endParaRPr lang="ru-RU" sz="2000" dirty="0" smtClean="0"/>
          </a:p>
          <a:p>
            <a:pPr marL="0" lvl="0" indent="0">
              <a:buNone/>
            </a:pPr>
            <a:r>
              <a:rPr lang="ru-RU" sz="2000" dirty="0" smtClean="0"/>
              <a:t>Признаки:</a:t>
            </a:r>
          </a:p>
          <a:p>
            <a:pPr lvl="1"/>
            <a:r>
              <a:rPr lang="en-US" sz="2000" dirty="0" err="1" smtClean="0"/>
              <a:t>sepal_length</a:t>
            </a:r>
            <a:endParaRPr lang="ru-RU" sz="2000" dirty="0" smtClean="0"/>
          </a:p>
          <a:p>
            <a:pPr lvl="1"/>
            <a:r>
              <a:rPr lang="en-US" sz="2000" dirty="0" err="1" smtClean="0"/>
              <a:t>sepal_width</a:t>
            </a:r>
            <a:endParaRPr lang="ru-RU" sz="2000" dirty="0" smtClean="0"/>
          </a:p>
          <a:p>
            <a:pPr lvl="1"/>
            <a:r>
              <a:rPr lang="en-US" sz="2000" dirty="0" err="1" smtClean="0"/>
              <a:t>petal_length</a:t>
            </a:r>
            <a:endParaRPr lang="ru-RU" sz="2000" dirty="0" smtClean="0"/>
          </a:p>
          <a:p>
            <a:pPr lvl="1"/>
            <a:r>
              <a:rPr lang="en-US" sz="2000" dirty="0" err="1" smtClean="0"/>
              <a:t>petal_width</a:t>
            </a:r>
            <a:endParaRPr lang="ru-RU" sz="2000" dirty="0" smtClean="0"/>
          </a:p>
          <a:p>
            <a:pPr marL="0" lvl="0" indent="0">
              <a:buNone/>
            </a:pPr>
            <a:r>
              <a:rPr lang="ru-RU" sz="2000" dirty="0" smtClean="0"/>
              <a:t>Файл </a:t>
            </a:r>
            <a:r>
              <a:rPr lang="en-US" sz="2000" dirty="0"/>
              <a:t>drift.csv </a:t>
            </a:r>
            <a:r>
              <a:rPr lang="ru-RU" sz="2000" dirty="0"/>
              <a:t>имитирует поступление новых данных в </a:t>
            </a:r>
            <a:r>
              <a:rPr lang="ru-RU" sz="2000" dirty="0" err="1"/>
              <a:t>продакшене</a:t>
            </a:r>
            <a:r>
              <a:rPr lang="ru-RU" sz="2000" dirty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9032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CDE032-1632-8A3A-0E75-C40DCC7F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="" xmlns:a16="http://schemas.microsoft.com/office/drawing/2014/main" id="{FB79E22A-74CD-D697-8EBB-B8EE3F14F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8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83ED8C4-6983-C6E6-1ABF-7EC56994795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924BB540-32BF-0716-29C9-268EBB17F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8F1496-CF7C-A3D6-67DD-C5CD874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</a:t>
            </a:fld>
            <a:endParaRPr lang="ru-RU"/>
          </a:p>
        </p:txBody>
      </p:sp>
      <p:sp>
        <p:nvSpPr>
          <p:cNvPr id="2" name="Google Shape;120;p16">
            <a:extLst>
              <a:ext uri="{FF2B5EF4-FFF2-40B4-BE49-F238E27FC236}">
                <a16:creationId xmlns="" xmlns:a16="http://schemas.microsoft.com/office/drawing/2014/main" id="{0EE88906-9D19-AAD5-12D5-D8D650B91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5" y="1099297"/>
            <a:ext cx="10697137" cy="6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0073B6"/>
              </a:buClr>
              <a:buSzPts val="4400"/>
            </a:pPr>
            <a:r>
              <a:rPr lang="ru-RU" b="1" dirty="0">
                <a:solidFill>
                  <a:srgbClr val="0073B6"/>
                </a:solidFill>
              </a:rPr>
              <a:t>Мониторинг </a:t>
            </a:r>
            <a:r>
              <a:rPr lang="en-US" b="1" dirty="0">
                <a:solidFill>
                  <a:srgbClr val="0073B6"/>
                </a:solidFill>
              </a:rPr>
              <a:t>data drift </a:t>
            </a:r>
            <a:r>
              <a:rPr lang="ru-RU" b="1" dirty="0">
                <a:solidFill>
                  <a:srgbClr val="0073B6"/>
                </a:solidFill>
              </a:rPr>
              <a:t>и запуск </a:t>
            </a:r>
            <a:r>
              <a:rPr lang="en-US" b="1" dirty="0" smtClean="0">
                <a:solidFill>
                  <a:srgbClr val="0073B6"/>
                </a:solidFill>
              </a:rPr>
              <a:t>retraining</a:t>
            </a:r>
            <a:endParaRPr dirty="0"/>
          </a:p>
        </p:txBody>
      </p:sp>
      <p:sp>
        <p:nvSpPr>
          <p:cNvPr id="14" name="Google Shape;121;p16">
            <a:extLst>
              <a:ext uri="{FF2B5EF4-FFF2-40B4-BE49-F238E27FC236}">
                <a16:creationId xmlns="" xmlns:a16="http://schemas.microsoft.com/office/drawing/2014/main" id="{74A6BD99-B6C3-8E38-43CA-BB783E34A042}"/>
              </a:ext>
            </a:extLst>
          </p:cNvPr>
          <p:cNvSpPr txBox="1">
            <a:spLocks/>
          </p:cNvSpPr>
          <p:nvPr/>
        </p:nvSpPr>
        <p:spPr>
          <a:xfrm>
            <a:off x="875445" y="1966724"/>
            <a:ext cx="11084907" cy="28430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 err="1"/>
              <a:t>Airflow</a:t>
            </a:r>
            <a:r>
              <a:rPr lang="ru-RU" sz="2000" dirty="0"/>
              <a:t> DAG запускается </a:t>
            </a:r>
            <a:r>
              <a:rPr lang="ru-RU" sz="2000" b="1" dirty="0" smtClean="0"/>
              <a:t>минимум </a:t>
            </a:r>
            <a:r>
              <a:rPr lang="ru-RU" sz="2000" b="1" dirty="0"/>
              <a:t>раз в сутки</a:t>
            </a:r>
            <a:r>
              <a:rPr lang="ru-RU" sz="2000" dirty="0"/>
              <a:t> и выполняет:</a:t>
            </a:r>
          </a:p>
          <a:p>
            <a:r>
              <a:rPr lang="ru-RU" sz="2000" dirty="0"/>
              <a:t>загрузку обучающих и текущих данных;</a:t>
            </a:r>
          </a:p>
          <a:p>
            <a:r>
              <a:rPr lang="ru-RU" sz="2000" dirty="0"/>
              <a:t>расчёт метрики </a:t>
            </a:r>
            <a:r>
              <a:rPr lang="ru-RU" sz="2000" dirty="0" err="1"/>
              <a:t>drift</a:t>
            </a:r>
            <a:r>
              <a:rPr lang="ru-RU" sz="2000" dirty="0"/>
              <a:t>;</a:t>
            </a:r>
          </a:p>
          <a:p>
            <a:r>
              <a:rPr lang="ru-RU" sz="2000" dirty="0"/>
              <a:t>принятие решения о </a:t>
            </a:r>
            <a:r>
              <a:rPr lang="ru-RU" sz="2000" dirty="0" err="1"/>
              <a:t>retraining</a:t>
            </a:r>
            <a:r>
              <a:rPr lang="ru-RU" sz="2000"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320" y="3682576"/>
            <a:ext cx="11717385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9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CDE032-1632-8A3A-0E75-C40DCC7F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="" xmlns:a16="http://schemas.microsoft.com/office/drawing/2014/main" id="{FB79E22A-74CD-D697-8EBB-B8EE3F14F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0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83ED8C4-6983-C6E6-1ABF-7EC56994795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924BB540-32BF-0716-29C9-268EBB17F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8F1496-CF7C-A3D6-67DD-C5CD874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</a:t>
            </a:fld>
            <a:endParaRPr lang="ru-RU"/>
          </a:p>
        </p:txBody>
      </p:sp>
      <p:sp>
        <p:nvSpPr>
          <p:cNvPr id="2" name="Google Shape;120;p16">
            <a:extLst>
              <a:ext uri="{FF2B5EF4-FFF2-40B4-BE49-F238E27FC236}">
                <a16:creationId xmlns="" xmlns:a16="http://schemas.microsoft.com/office/drawing/2014/main" id="{0EE88906-9D19-AAD5-12D5-D8D650B91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5" y="1099297"/>
            <a:ext cx="10697137" cy="6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0073B6"/>
              </a:buClr>
              <a:buSzPts val="4400"/>
            </a:pPr>
            <a:r>
              <a:rPr lang="ru-RU" b="1" dirty="0">
                <a:solidFill>
                  <a:srgbClr val="0073B6"/>
                </a:solidFill>
              </a:rPr>
              <a:t>Логика </a:t>
            </a:r>
            <a:r>
              <a:rPr lang="en-US" b="1" dirty="0">
                <a:solidFill>
                  <a:srgbClr val="0073B6"/>
                </a:solidFill>
              </a:rPr>
              <a:t>DAG</a:t>
            </a:r>
            <a:endParaRPr dirty="0"/>
          </a:p>
        </p:txBody>
      </p:sp>
      <p:sp>
        <p:nvSpPr>
          <p:cNvPr id="14" name="Google Shape;121;p16">
            <a:extLst>
              <a:ext uri="{FF2B5EF4-FFF2-40B4-BE49-F238E27FC236}">
                <a16:creationId xmlns="" xmlns:a16="http://schemas.microsoft.com/office/drawing/2014/main" id="{74A6BD99-B6C3-8E38-43CA-BB783E34A042}"/>
              </a:ext>
            </a:extLst>
          </p:cNvPr>
          <p:cNvSpPr txBox="1">
            <a:spLocks/>
          </p:cNvSpPr>
          <p:nvPr/>
        </p:nvSpPr>
        <p:spPr>
          <a:xfrm>
            <a:off x="653795" y="4529571"/>
            <a:ext cx="11084907" cy="995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если </a:t>
            </a:r>
            <a:r>
              <a:rPr lang="en-US" sz="1800" dirty="0"/>
              <a:t>drift </a:t>
            </a:r>
            <a:r>
              <a:rPr lang="ru-RU" sz="1800" dirty="0"/>
              <a:t>превышает </a:t>
            </a:r>
            <a:r>
              <a:rPr lang="en-US" sz="1800" dirty="0" smtClean="0"/>
              <a:t>threshold</a:t>
            </a:r>
            <a:r>
              <a:rPr lang="ru-RU" sz="1800" dirty="0" smtClean="0"/>
              <a:t> = 0,2</a:t>
            </a:r>
            <a:r>
              <a:rPr lang="en-US" sz="1800" dirty="0" smtClean="0"/>
              <a:t> </a:t>
            </a:r>
            <a:r>
              <a:rPr lang="ru-RU" sz="1800" dirty="0" smtClean="0"/>
              <a:t>-</a:t>
            </a:r>
            <a:r>
              <a:rPr lang="en-US" sz="1800" dirty="0" smtClean="0"/>
              <a:t> </a:t>
            </a:r>
            <a:r>
              <a:rPr lang="ru-RU" sz="1800" dirty="0"/>
              <a:t>запускается </a:t>
            </a:r>
            <a:r>
              <a:rPr lang="en-US" sz="1800" dirty="0"/>
              <a:t>retraining</a:t>
            </a:r>
            <a:r>
              <a:rPr lang="en-US" sz="1800" dirty="0" smtClean="0"/>
              <a:t>,</a:t>
            </a:r>
            <a:endParaRPr lang="ru-RU" sz="1800" dirty="0" smtClean="0"/>
          </a:p>
          <a:p>
            <a:r>
              <a:rPr lang="ru-RU" sz="1800" dirty="0" smtClean="0"/>
              <a:t>если </a:t>
            </a:r>
            <a:r>
              <a:rPr lang="ru-RU" sz="1800" dirty="0"/>
              <a:t>нет </a:t>
            </a:r>
            <a:r>
              <a:rPr lang="ru-RU" sz="1800" dirty="0" smtClean="0"/>
              <a:t>- </a:t>
            </a:r>
            <a:r>
              <a:rPr lang="en-US" sz="1800" dirty="0" smtClean="0"/>
              <a:t>DAG </a:t>
            </a:r>
            <a:r>
              <a:rPr lang="ru-RU" sz="1800" dirty="0"/>
              <a:t>завершается без обучения.</a:t>
            </a:r>
            <a:endParaRPr lang="ru-RU" sz="1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9340" y="2560320"/>
            <a:ext cx="4079479" cy="86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8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CDE032-1632-8A3A-0E75-C40DCC7F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="" xmlns:a16="http://schemas.microsoft.com/office/drawing/2014/main" id="{FB79E22A-74CD-D697-8EBB-B8EE3F14F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5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83ED8C4-6983-C6E6-1ABF-7EC56994795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924BB540-32BF-0716-29C9-268EBB17F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8F1496-CF7C-A3D6-67DD-C5CD874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</a:t>
            </a:fld>
            <a:endParaRPr lang="ru-RU"/>
          </a:p>
        </p:txBody>
      </p:sp>
      <p:sp>
        <p:nvSpPr>
          <p:cNvPr id="2" name="Google Shape;120;p16">
            <a:extLst>
              <a:ext uri="{FF2B5EF4-FFF2-40B4-BE49-F238E27FC236}">
                <a16:creationId xmlns="" xmlns:a16="http://schemas.microsoft.com/office/drawing/2014/main" id="{0EE88906-9D19-AAD5-12D5-D8D650B91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5" y="1099297"/>
            <a:ext cx="10697137" cy="6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0073B6"/>
              </a:buClr>
              <a:buSzPts val="4400"/>
            </a:pPr>
            <a:r>
              <a:rPr lang="en-US" b="1" dirty="0" err="1">
                <a:solidFill>
                  <a:srgbClr val="0073B6"/>
                </a:solidFill>
              </a:rPr>
              <a:t>AutoML</a:t>
            </a:r>
            <a:r>
              <a:rPr lang="en-US" b="1" dirty="0">
                <a:solidFill>
                  <a:srgbClr val="0073B6"/>
                </a:solidFill>
              </a:rPr>
              <a:t> </a:t>
            </a:r>
            <a:r>
              <a:rPr lang="ru-RU" b="1" dirty="0">
                <a:solidFill>
                  <a:srgbClr val="0073B6"/>
                </a:solidFill>
              </a:rPr>
              <a:t>с </a:t>
            </a:r>
            <a:r>
              <a:rPr lang="en-US" b="1" dirty="0" err="1">
                <a:solidFill>
                  <a:srgbClr val="0073B6"/>
                </a:solidFill>
              </a:rPr>
              <a:t>PyCaret</a:t>
            </a:r>
            <a:endParaRPr dirty="0"/>
          </a:p>
        </p:txBody>
      </p:sp>
      <p:sp>
        <p:nvSpPr>
          <p:cNvPr id="14" name="Google Shape;121;p16">
            <a:extLst>
              <a:ext uri="{FF2B5EF4-FFF2-40B4-BE49-F238E27FC236}">
                <a16:creationId xmlns="" xmlns:a16="http://schemas.microsoft.com/office/drawing/2014/main" id="{74A6BD99-B6C3-8E38-43CA-BB783E34A042}"/>
              </a:ext>
            </a:extLst>
          </p:cNvPr>
          <p:cNvSpPr txBox="1">
            <a:spLocks/>
          </p:cNvSpPr>
          <p:nvPr/>
        </p:nvSpPr>
        <p:spPr>
          <a:xfrm>
            <a:off x="875445" y="1966724"/>
            <a:ext cx="4738971" cy="152628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Используется </a:t>
            </a:r>
            <a:r>
              <a:rPr lang="ru-RU" sz="2000" dirty="0" err="1" smtClean="0"/>
              <a:t>PyCaret</a:t>
            </a:r>
            <a:r>
              <a:rPr lang="ru-RU" sz="2000" dirty="0" smtClean="0"/>
              <a:t> </a:t>
            </a:r>
            <a:r>
              <a:rPr lang="ru-RU" sz="2000" dirty="0"/>
              <a:t>для автоматического подбора модели</a:t>
            </a:r>
            <a:r>
              <a:rPr lang="ru-RU" sz="2000" dirty="0" smtClean="0"/>
              <a:t>.</a:t>
            </a:r>
          </a:p>
          <a:p>
            <a:pPr marL="0" indent="0">
              <a:buNone/>
            </a:pPr>
            <a:r>
              <a:rPr lang="ru-RU" sz="2000" dirty="0"/>
              <a:t>Выбор происходит по лучшей метрике качества.</a:t>
            </a: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4701" y="1966162"/>
            <a:ext cx="499179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2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CDE032-1632-8A3A-0E75-C40DCC7F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="" xmlns:a16="http://schemas.microsoft.com/office/drawing/2014/main" id="{FB79E22A-74CD-D697-8EBB-B8EE3F14F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0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83ED8C4-6983-C6E6-1ABF-7EC56994795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924BB540-32BF-0716-29C9-268EBB17F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8F1496-CF7C-A3D6-67DD-C5CD874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</a:t>
            </a:fld>
            <a:endParaRPr lang="ru-RU"/>
          </a:p>
        </p:txBody>
      </p:sp>
      <p:sp>
        <p:nvSpPr>
          <p:cNvPr id="2" name="Google Shape;120;p16">
            <a:extLst>
              <a:ext uri="{FF2B5EF4-FFF2-40B4-BE49-F238E27FC236}">
                <a16:creationId xmlns="" xmlns:a16="http://schemas.microsoft.com/office/drawing/2014/main" id="{0EE88906-9D19-AAD5-12D5-D8D650B91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5" y="1099297"/>
            <a:ext cx="10697137" cy="6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0073B6"/>
              </a:buClr>
              <a:buSzPts val="4400"/>
            </a:pPr>
            <a:r>
              <a:rPr lang="ru-RU" b="1" dirty="0" smtClean="0">
                <a:solidFill>
                  <a:srgbClr val="0073B6"/>
                </a:solidFill>
              </a:rPr>
              <a:t>Регистрация </a:t>
            </a:r>
            <a:r>
              <a:rPr lang="ru-RU" b="1" dirty="0">
                <a:solidFill>
                  <a:srgbClr val="0073B6"/>
                </a:solidFill>
              </a:rPr>
              <a:t>модели в </a:t>
            </a:r>
            <a:r>
              <a:rPr lang="ru-RU" b="1" dirty="0" err="1">
                <a:solidFill>
                  <a:srgbClr val="0073B6"/>
                </a:solidFill>
              </a:rPr>
              <a:t>MLflow</a:t>
            </a:r>
            <a:endParaRPr dirty="0"/>
          </a:p>
        </p:txBody>
      </p:sp>
      <p:sp>
        <p:nvSpPr>
          <p:cNvPr id="8" name="Google Shape;121;p16">
            <a:extLst>
              <a:ext uri="{FF2B5EF4-FFF2-40B4-BE49-F238E27FC236}">
                <a16:creationId xmlns="" xmlns:a16="http://schemas.microsoft.com/office/drawing/2014/main" id="{74A6BD99-B6C3-8E38-43CA-BB783E34A042}"/>
              </a:ext>
            </a:extLst>
          </p:cNvPr>
          <p:cNvSpPr txBox="1">
            <a:spLocks/>
          </p:cNvSpPr>
          <p:nvPr/>
        </p:nvSpPr>
        <p:spPr>
          <a:xfrm>
            <a:off x="580521" y="2058205"/>
            <a:ext cx="11286983" cy="66674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ru-RU" sz="2000" dirty="0"/>
              <a:t>Лучшая модель регистрируется в </a:t>
            </a:r>
            <a:r>
              <a:rPr lang="ru-RU" sz="2000" dirty="0" err="1"/>
              <a:t>MLflow</a:t>
            </a:r>
            <a:r>
              <a:rPr lang="ru-RU" sz="2000" dirty="0"/>
              <a:t> </a:t>
            </a:r>
            <a:r>
              <a:rPr lang="ru-RU" sz="2000" dirty="0" err="1"/>
              <a:t>Model</a:t>
            </a:r>
            <a:r>
              <a:rPr lang="ru-RU" sz="2000" dirty="0"/>
              <a:t> </a:t>
            </a:r>
            <a:r>
              <a:rPr lang="ru-RU" sz="2000" dirty="0" err="1" smtClean="0"/>
              <a:t>Registry</a:t>
            </a: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7085" y="2968207"/>
            <a:ext cx="7453853" cy="230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1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CDE032-1632-8A3A-0E75-C40DCC7F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="" xmlns:a16="http://schemas.microsoft.com/office/drawing/2014/main" id="{FB79E22A-74CD-D697-8EBB-B8EE3F14F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3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83ED8C4-6983-C6E6-1ABF-7EC56994795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924BB540-32BF-0716-29C9-268EBB17F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8F1496-CF7C-A3D6-67DD-C5CD874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7</a:t>
            </a:fld>
            <a:endParaRPr lang="ru-RU"/>
          </a:p>
        </p:txBody>
      </p:sp>
      <p:sp>
        <p:nvSpPr>
          <p:cNvPr id="2" name="Google Shape;120;p16">
            <a:extLst>
              <a:ext uri="{FF2B5EF4-FFF2-40B4-BE49-F238E27FC236}">
                <a16:creationId xmlns="" xmlns:a16="http://schemas.microsoft.com/office/drawing/2014/main" id="{0EE88906-9D19-AAD5-12D5-D8D650B91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5" y="1099297"/>
            <a:ext cx="10697137" cy="6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0073B6"/>
              </a:buClr>
              <a:buSzPts val="4400"/>
            </a:pPr>
            <a:r>
              <a:rPr lang="en-US" b="1" dirty="0">
                <a:solidFill>
                  <a:srgbClr val="0073B6"/>
                </a:solidFill>
              </a:rPr>
              <a:t>A/B </a:t>
            </a:r>
            <a:r>
              <a:rPr lang="ru-RU" b="1" dirty="0">
                <a:solidFill>
                  <a:srgbClr val="0073B6"/>
                </a:solidFill>
              </a:rPr>
              <a:t>тестирование через </a:t>
            </a:r>
            <a:r>
              <a:rPr lang="en-US" b="1" dirty="0">
                <a:solidFill>
                  <a:srgbClr val="0073B6"/>
                </a:solidFill>
              </a:rPr>
              <a:t>Flask</a:t>
            </a:r>
            <a:endParaRPr dirty="0"/>
          </a:p>
        </p:txBody>
      </p:sp>
      <p:sp>
        <p:nvSpPr>
          <p:cNvPr id="14" name="Google Shape;121;p16">
            <a:extLst>
              <a:ext uri="{FF2B5EF4-FFF2-40B4-BE49-F238E27FC236}">
                <a16:creationId xmlns="" xmlns:a16="http://schemas.microsoft.com/office/drawing/2014/main" id="{74A6BD99-B6C3-8E38-43CA-BB783E34A042}"/>
              </a:ext>
            </a:extLst>
          </p:cNvPr>
          <p:cNvSpPr txBox="1">
            <a:spLocks/>
          </p:cNvSpPr>
          <p:nvPr/>
        </p:nvSpPr>
        <p:spPr>
          <a:xfrm>
            <a:off x="653795" y="1966724"/>
            <a:ext cx="11306557" cy="187375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Flask API </a:t>
            </a:r>
            <a:r>
              <a:rPr lang="ru-RU" sz="2000" dirty="0"/>
              <a:t>распределяет трафик между моделями:</a:t>
            </a:r>
          </a:p>
          <a:p>
            <a:r>
              <a:rPr lang="en-US" sz="2000" dirty="0" smtClean="0"/>
              <a:t>Production</a:t>
            </a:r>
            <a:endParaRPr lang="en-US" sz="2000" dirty="0"/>
          </a:p>
          <a:p>
            <a:r>
              <a:rPr lang="en-US" sz="2000" dirty="0" smtClean="0"/>
              <a:t>Staging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5" y="3527258"/>
            <a:ext cx="10872098" cy="126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8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CDE032-1632-8A3A-0E75-C40DCC7F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="" xmlns:a16="http://schemas.microsoft.com/office/drawing/2014/main" id="{FB79E22A-74CD-D697-8EBB-B8EE3F14F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7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83ED8C4-6983-C6E6-1ABF-7EC56994795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924BB540-32BF-0716-29C9-268EBB17F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8F1496-CF7C-A3D6-67DD-C5CD874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8</a:t>
            </a:fld>
            <a:endParaRPr lang="ru-RU"/>
          </a:p>
        </p:txBody>
      </p:sp>
      <p:sp>
        <p:nvSpPr>
          <p:cNvPr id="2" name="Google Shape;120;p16">
            <a:extLst>
              <a:ext uri="{FF2B5EF4-FFF2-40B4-BE49-F238E27FC236}">
                <a16:creationId xmlns="" xmlns:a16="http://schemas.microsoft.com/office/drawing/2014/main" id="{0EE88906-9D19-AAD5-12D5-D8D650B91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5" y="1099297"/>
            <a:ext cx="10697137" cy="6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0073B6"/>
              </a:buClr>
              <a:buSzPts val="4400"/>
            </a:pPr>
            <a:r>
              <a:rPr lang="ru-RU" b="1" dirty="0" err="1">
                <a:solidFill>
                  <a:srgbClr val="0073B6"/>
                </a:solidFill>
              </a:rPr>
              <a:t>Логирование</a:t>
            </a:r>
            <a:r>
              <a:rPr lang="ru-RU" b="1" dirty="0">
                <a:solidFill>
                  <a:srgbClr val="0073B6"/>
                </a:solidFill>
              </a:rPr>
              <a:t> запросов</a:t>
            </a:r>
            <a:endParaRPr dirty="0"/>
          </a:p>
        </p:txBody>
      </p:sp>
      <p:sp>
        <p:nvSpPr>
          <p:cNvPr id="14" name="Google Shape;121;p16">
            <a:extLst>
              <a:ext uri="{FF2B5EF4-FFF2-40B4-BE49-F238E27FC236}">
                <a16:creationId xmlns="" xmlns:a16="http://schemas.microsoft.com/office/drawing/2014/main" id="{74A6BD99-B6C3-8E38-43CA-BB783E34A042}"/>
              </a:ext>
            </a:extLst>
          </p:cNvPr>
          <p:cNvSpPr txBox="1">
            <a:spLocks/>
          </p:cNvSpPr>
          <p:nvPr/>
        </p:nvSpPr>
        <p:spPr>
          <a:xfrm>
            <a:off x="754602" y="1966724"/>
            <a:ext cx="11205750" cy="370255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Все запросы сохраняются </a:t>
            </a:r>
            <a:r>
              <a:rPr lang="ru-RU" sz="2000" dirty="0" smtClean="0"/>
              <a:t>в </a:t>
            </a:r>
            <a:r>
              <a:rPr lang="en-US" sz="2000" dirty="0"/>
              <a:t>flask-</a:t>
            </a:r>
            <a:r>
              <a:rPr lang="en-US" sz="2000" dirty="0" err="1"/>
              <a:t>api</a:t>
            </a:r>
            <a:r>
              <a:rPr lang="en-US" sz="2000" dirty="0"/>
              <a:t>/logs/</a:t>
            </a:r>
          </a:p>
          <a:p>
            <a:pPr marL="0" indent="0">
              <a:buNone/>
            </a:pPr>
            <a:endParaRPr lang="ru-RU" sz="2000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195" y="2692300"/>
            <a:ext cx="7859222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CDE032-1632-8A3A-0E75-C40DCC7F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="" xmlns:a16="http://schemas.microsoft.com/office/drawing/2014/main" id="{FB79E22A-74CD-D697-8EBB-B8EE3F14F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6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83ED8C4-6983-C6E6-1ABF-7EC56994795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924BB540-32BF-0716-29C9-268EBB17F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8F1496-CF7C-A3D6-67DD-C5CD874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9</a:t>
            </a:fld>
            <a:endParaRPr lang="ru-RU"/>
          </a:p>
        </p:txBody>
      </p:sp>
      <p:sp>
        <p:nvSpPr>
          <p:cNvPr id="2" name="Google Shape;120;p16">
            <a:extLst>
              <a:ext uri="{FF2B5EF4-FFF2-40B4-BE49-F238E27FC236}">
                <a16:creationId xmlns="" xmlns:a16="http://schemas.microsoft.com/office/drawing/2014/main" id="{0EE88906-9D19-AAD5-12D5-D8D650B91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5" y="1099297"/>
            <a:ext cx="10697137" cy="6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0073B6"/>
              </a:buClr>
              <a:buSzPts val="4400"/>
            </a:pPr>
            <a:r>
              <a:rPr lang="ru-RU" b="1" dirty="0">
                <a:solidFill>
                  <a:srgbClr val="0073B6"/>
                </a:solidFill>
              </a:rPr>
              <a:t>Анализ </a:t>
            </a:r>
            <a:r>
              <a:rPr lang="ru-RU" b="1" dirty="0" smtClean="0">
                <a:solidFill>
                  <a:srgbClr val="0073B6"/>
                </a:solidFill>
              </a:rPr>
              <a:t>метрик </a:t>
            </a:r>
            <a:endParaRPr dirty="0"/>
          </a:p>
        </p:txBody>
      </p:sp>
      <p:sp>
        <p:nvSpPr>
          <p:cNvPr id="14" name="Google Shape;121;p16">
            <a:extLst>
              <a:ext uri="{FF2B5EF4-FFF2-40B4-BE49-F238E27FC236}">
                <a16:creationId xmlns="" xmlns:a16="http://schemas.microsoft.com/office/drawing/2014/main" id="{74A6BD99-B6C3-8E38-43CA-BB783E34A042}"/>
              </a:ext>
            </a:extLst>
          </p:cNvPr>
          <p:cNvSpPr txBox="1">
            <a:spLocks/>
          </p:cNvSpPr>
          <p:nvPr/>
        </p:nvSpPr>
        <p:spPr>
          <a:xfrm>
            <a:off x="653795" y="1966724"/>
            <a:ext cx="3150109" cy="38488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ML-</a:t>
            </a:r>
            <a:r>
              <a:rPr lang="ru-RU" sz="2000" b="1" dirty="0" smtClean="0"/>
              <a:t>метрики:</a:t>
            </a:r>
            <a:endParaRPr lang="ru-RU" sz="2000" b="1" dirty="0"/>
          </a:p>
          <a:p>
            <a:pPr lvl="1"/>
            <a:r>
              <a:rPr lang="en-US" sz="2000" dirty="0"/>
              <a:t>Accuracy</a:t>
            </a:r>
          </a:p>
          <a:p>
            <a:pPr lvl="1"/>
            <a:r>
              <a:rPr lang="en-US" sz="2000" dirty="0"/>
              <a:t>Precision</a:t>
            </a:r>
          </a:p>
          <a:p>
            <a:pPr lvl="1"/>
            <a:r>
              <a:rPr lang="en-US" sz="2000" dirty="0"/>
              <a:t>Recall</a:t>
            </a:r>
          </a:p>
          <a:p>
            <a:pPr lvl="1"/>
            <a:r>
              <a:rPr lang="en-US" sz="2000" dirty="0" smtClean="0"/>
              <a:t>F1-score</a:t>
            </a:r>
            <a:endParaRPr lang="en-US" sz="2000" dirty="0"/>
          </a:p>
          <a:p>
            <a:pPr lvl="1"/>
            <a:r>
              <a:rPr lang="en-US" sz="2000" dirty="0"/>
              <a:t>Confusion Matrix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8847" y="2521368"/>
            <a:ext cx="5331001" cy="310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05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7CDE032-1632-8A3A-0E75-C40DCC7F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="" xmlns:a16="http://schemas.microsoft.com/office/drawing/2014/main" id="{FB79E22A-74CD-D697-8EBB-B8EE3F14F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983ED8C4-6983-C6E6-1ABF-7EC56994795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924BB540-32BF-0716-29C9-268EBB17F7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EE8F1496-CF7C-A3D6-67DD-C5CD874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10</a:t>
            </a:fld>
            <a:endParaRPr lang="ru-RU"/>
          </a:p>
        </p:txBody>
      </p:sp>
      <p:sp>
        <p:nvSpPr>
          <p:cNvPr id="2" name="Google Shape;120;p16">
            <a:extLst>
              <a:ext uri="{FF2B5EF4-FFF2-40B4-BE49-F238E27FC236}">
                <a16:creationId xmlns="" xmlns:a16="http://schemas.microsoft.com/office/drawing/2014/main" id="{0EE88906-9D19-AAD5-12D5-D8D650B91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5" y="1099297"/>
            <a:ext cx="10697137" cy="69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rgbClr val="0073B6"/>
              </a:buClr>
              <a:buSzPts val="4400"/>
            </a:pPr>
            <a:r>
              <a:rPr lang="ru-RU" b="1" dirty="0" smtClean="0">
                <a:solidFill>
                  <a:srgbClr val="0073B6"/>
                </a:solidFill>
              </a:rPr>
              <a:t>Код проекта</a:t>
            </a:r>
            <a:endParaRPr dirty="0"/>
          </a:p>
        </p:txBody>
      </p:sp>
      <p:sp>
        <p:nvSpPr>
          <p:cNvPr id="14" name="Google Shape;121;p16">
            <a:extLst>
              <a:ext uri="{FF2B5EF4-FFF2-40B4-BE49-F238E27FC236}">
                <a16:creationId xmlns="" xmlns:a16="http://schemas.microsoft.com/office/drawing/2014/main" id="{74A6BD99-B6C3-8E38-43CA-BB783E34A042}"/>
              </a:ext>
            </a:extLst>
          </p:cNvPr>
          <p:cNvSpPr txBox="1">
            <a:spLocks/>
          </p:cNvSpPr>
          <p:nvPr/>
        </p:nvSpPr>
        <p:spPr>
          <a:xfrm>
            <a:off x="1334598" y="3244502"/>
            <a:ext cx="3506680" cy="11422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https://</a:t>
            </a:r>
            <a:r>
              <a:rPr lang="en-US" sz="2200" b="1" dirty="0" smtClean="0"/>
              <a:t>github.com/KalitaAS/MLOps_auto-retrain</a:t>
            </a:r>
            <a:endParaRPr lang="ru-RU" sz="22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5710" y="1796138"/>
            <a:ext cx="5758090" cy="479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07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1" y="0"/>
            <a:ext cx="12147899" cy="68580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12302" r="3901" b="12632"/>
          <a:stretch/>
        </p:blipFill>
        <p:spPr>
          <a:xfrm>
            <a:off x="777904" y="610624"/>
            <a:ext cx="2229493" cy="1301015"/>
          </a:xfrm>
          <a:prstGeom prst="rect">
            <a:avLst/>
          </a:prstGeom>
        </p:spPr>
      </p:pic>
      <p:graphicFrame>
        <p:nvGraphicFramePr>
          <p:cNvPr id="18" name="Объект 17"/>
          <p:cNvGraphicFramePr>
            <a:graphicFrameLocks noChangeAspect="1"/>
          </p:cNvGraphicFramePr>
          <p:nvPr>
            <p:extLst/>
          </p:nvPr>
        </p:nvGraphicFramePr>
        <p:xfrm>
          <a:off x="8309657" y="656695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9" name="CorelDRAW" r:id="rId5" imgW="3084412" imgH="1354813" progId="CorelDraw.Graphic.22">
                  <p:embed/>
                </p:oleObj>
              </mc:Choice>
              <mc:Fallback>
                <p:oleObj name="CorelDRAW" r:id="rId5" imgW="3084412" imgH="1354813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09657" y="656695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Заголовок 1"/>
          <p:cNvSpPr txBox="1">
            <a:spLocks/>
          </p:cNvSpPr>
          <p:nvPr/>
        </p:nvSpPr>
        <p:spPr>
          <a:xfrm>
            <a:off x="1393463" y="1991449"/>
            <a:ext cx="7488832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54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Итоговый проект по </a:t>
            </a:r>
            <a:r>
              <a:rPr lang="en-US" altLang="ru-RU" sz="5400" b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endParaRPr lang="ru-RU" altLang="ru-RU" sz="5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393463" y="4890061"/>
            <a:ext cx="4454681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Студент: Калита Анастасия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Группа: РИМ-240901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121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2881</TotalTime>
  <Words>175</Words>
  <Application>Microsoft Office PowerPoint</Application>
  <PresentationFormat>Широкоэкранный</PresentationFormat>
  <Paragraphs>53</Paragraphs>
  <Slides>11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CorelDRAW</vt:lpstr>
      <vt:lpstr>Презентация PowerPoint</vt:lpstr>
      <vt:lpstr>Датасет</vt:lpstr>
      <vt:lpstr>Мониторинг data drift и запуск retraining</vt:lpstr>
      <vt:lpstr>Логика DAG</vt:lpstr>
      <vt:lpstr>AutoML с PyCaret</vt:lpstr>
      <vt:lpstr>Регистрация модели в MLflow</vt:lpstr>
      <vt:lpstr>A/B тестирование через Flask</vt:lpstr>
      <vt:lpstr>Логирование запросов</vt:lpstr>
      <vt:lpstr>Анализ метрик </vt:lpstr>
      <vt:lpstr>Код проекта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Kalita</cp:lastModifiedBy>
  <cp:revision>164</cp:revision>
  <dcterms:created xsi:type="dcterms:W3CDTF">2019-05-31T06:38:44Z</dcterms:created>
  <dcterms:modified xsi:type="dcterms:W3CDTF">2026-01-16T06:00:34Z</dcterms:modified>
</cp:coreProperties>
</file>